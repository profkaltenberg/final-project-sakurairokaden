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Comfortaa"/>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omfortaa-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Comforta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14af386f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14af386f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14af386f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14af386f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14af386f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14af386f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14af386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14af386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14af386f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14af386f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14af386f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14af386f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14af386f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14af386f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14af386f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14af386f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1b4590732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1b4590732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14af386f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14af386f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3.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380900" y="614675"/>
            <a:ext cx="6382200" cy="3435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latin typeface="Comfortaa"/>
                <a:ea typeface="Comfortaa"/>
                <a:cs typeface="Comfortaa"/>
                <a:sym typeface="Comfortaa"/>
              </a:rPr>
              <a:t>Are Newer Steam Games More Likely to Receive Positive User Reviews?</a:t>
            </a:r>
            <a:endParaRPr sz="4600">
              <a:latin typeface="Comfortaa"/>
              <a:ea typeface="Comfortaa"/>
              <a:cs typeface="Comfortaa"/>
              <a:sym typeface="Comfortaa"/>
            </a:endParaRPr>
          </a:p>
        </p:txBody>
      </p:sp>
      <p:sp>
        <p:nvSpPr>
          <p:cNvPr id="55" name="Google Shape;55;p13"/>
          <p:cNvSpPr txBox="1"/>
          <p:nvPr>
            <p:ph idx="1" type="subTitle"/>
          </p:nvPr>
        </p:nvSpPr>
        <p:spPr>
          <a:xfrm>
            <a:off x="311700" y="4350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Comfortaa"/>
                <a:ea typeface="Comfortaa"/>
                <a:cs typeface="Comfortaa"/>
                <a:sym typeface="Comfortaa"/>
              </a:rPr>
              <a:t>By Vicky Wu</a:t>
            </a:r>
            <a:endParaRPr>
              <a:solidFill>
                <a:schemeClr val="dk1"/>
              </a:solidFill>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Research Question</a:t>
            </a:r>
            <a:endParaRPr>
              <a:latin typeface="Comfortaa"/>
              <a:ea typeface="Comfortaa"/>
              <a:cs typeface="Comfortaa"/>
              <a:sym typeface="Comfortaa"/>
            </a:endParaRPr>
          </a:p>
        </p:txBody>
      </p:sp>
      <p:sp>
        <p:nvSpPr>
          <p:cNvPr id="61" name="Google Shape;61;p14"/>
          <p:cNvSpPr txBox="1"/>
          <p:nvPr>
            <p:ph idx="1" type="body"/>
          </p:nvPr>
        </p:nvSpPr>
        <p:spPr>
          <a:xfrm>
            <a:off x="5893925" y="1261925"/>
            <a:ext cx="2989200" cy="2720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Comfortaa"/>
                <a:ea typeface="Comfortaa"/>
                <a:cs typeface="Comfortaa"/>
                <a:sym typeface="Comfortaa"/>
              </a:rPr>
              <a:t>Main Question: Are newer Steam games more likely to receive positive user reviews than older Steam games?</a:t>
            </a:r>
            <a:endParaRPr>
              <a:solidFill>
                <a:schemeClr val="dk1"/>
              </a:solidFill>
              <a:latin typeface="Comfortaa"/>
              <a:ea typeface="Comfortaa"/>
              <a:cs typeface="Comfortaa"/>
              <a:sym typeface="Comfortaa"/>
            </a:endParaRPr>
          </a:p>
        </p:txBody>
      </p:sp>
      <p:pic>
        <p:nvPicPr>
          <p:cNvPr id="62" name="Google Shape;62;p14" title="steam_variables_transparent_table.png"/>
          <p:cNvPicPr preferRelativeResize="0"/>
          <p:nvPr/>
        </p:nvPicPr>
        <p:blipFill>
          <a:blip r:embed="rId4">
            <a:alphaModFix/>
          </a:blip>
          <a:stretch>
            <a:fillRect/>
          </a:stretch>
        </p:blipFill>
        <p:spPr>
          <a:xfrm>
            <a:off x="311700" y="1284375"/>
            <a:ext cx="5589124" cy="26757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3945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API Documentation</a:t>
            </a:r>
            <a:endParaRPr>
              <a:latin typeface="Comfortaa"/>
              <a:ea typeface="Comfortaa"/>
              <a:cs typeface="Comfortaa"/>
              <a:sym typeface="Comfortaa"/>
            </a:endParaRPr>
          </a:p>
        </p:txBody>
      </p:sp>
      <p:pic>
        <p:nvPicPr>
          <p:cNvPr id="68" name="Google Shape;68;p15" title="Screenshot 2026-05-12 at 3.30.07 PM.png"/>
          <p:cNvPicPr preferRelativeResize="0"/>
          <p:nvPr/>
        </p:nvPicPr>
        <p:blipFill>
          <a:blip r:embed="rId4">
            <a:alphaModFix/>
          </a:blip>
          <a:stretch>
            <a:fillRect/>
          </a:stretch>
        </p:blipFill>
        <p:spPr>
          <a:xfrm>
            <a:off x="1364025" y="3348325"/>
            <a:ext cx="7535801" cy="1636250"/>
          </a:xfrm>
          <a:prstGeom prst="rect">
            <a:avLst/>
          </a:prstGeom>
          <a:noFill/>
          <a:ln>
            <a:noFill/>
          </a:ln>
        </p:spPr>
      </p:pic>
      <p:pic>
        <p:nvPicPr>
          <p:cNvPr id="69" name="Google Shape;69;p15" title="Screenshot 2026-05-12 at 5.11.12 PM.png"/>
          <p:cNvPicPr preferRelativeResize="0"/>
          <p:nvPr/>
        </p:nvPicPr>
        <p:blipFill>
          <a:blip r:embed="rId5">
            <a:alphaModFix/>
          </a:blip>
          <a:stretch>
            <a:fillRect/>
          </a:stretch>
        </p:blipFill>
        <p:spPr>
          <a:xfrm>
            <a:off x="245025" y="1018575"/>
            <a:ext cx="7627600" cy="2101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Data Collection Process</a:t>
            </a:r>
            <a:endParaRPr>
              <a:latin typeface="Comfortaa"/>
              <a:ea typeface="Comfortaa"/>
              <a:cs typeface="Comfortaa"/>
              <a:sym typeface="Comfortaa"/>
            </a:endParaRPr>
          </a:p>
        </p:txBody>
      </p:sp>
      <p:pic>
        <p:nvPicPr>
          <p:cNvPr id="75" name="Google Shape;75;p16" title="Screenshot 2026-05-13 at 11.36.52 PM.png"/>
          <p:cNvPicPr preferRelativeResize="0"/>
          <p:nvPr/>
        </p:nvPicPr>
        <p:blipFill>
          <a:blip r:embed="rId4">
            <a:alphaModFix/>
          </a:blip>
          <a:stretch>
            <a:fillRect/>
          </a:stretch>
        </p:blipFill>
        <p:spPr>
          <a:xfrm>
            <a:off x="1414577" y="1017725"/>
            <a:ext cx="3029475" cy="3931276"/>
          </a:xfrm>
          <a:prstGeom prst="rect">
            <a:avLst/>
          </a:prstGeom>
          <a:noFill/>
          <a:ln>
            <a:noFill/>
          </a:ln>
        </p:spPr>
      </p:pic>
      <p:pic>
        <p:nvPicPr>
          <p:cNvPr id="76" name="Google Shape;76;p16" title="Screenshot 2026-05-13 at 11.37.31 PM.png"/>
          <p:cNvPicPr preferRelativeResize="0"/>
          <p:nvPr/>
        </p:nvPicPr>
        <p:blipFill>
          <a:blip r:embed="rId5">
            <a:alphaModFix/>
          </a:blip>
          <a:stretch>
            <a:fillRect/>
          </a:stretch>
        </p:blipFill>
        <p:spPr>
          <a:xfrm>
            <a:off x="4722775" y="1020775"/>
            <a:ext cx="2989874" cy="4035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3039600" y="276625"/>
            <a:ext cx="26355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520">
                <a:latin typeface="Comfortaa"/>
                <a:ea typeface="Comfortaa"/>
                <a:cs typeface="Comfortaa"/>
                <a:sym typeface="Comfortaa"/>
              </a:rPr>
              <a:t>New Variables </a:t>
            </a:r>
            <a:endParaRPr sz="2520">
              <a:latin typeface="Comfortaa"/>
              <a:ea typeface="Comfortaa"/>
              <a:cs typeface="Comfortaa"/>
              <a:sym typeface="Comfortaa"/>
            </a:endParaRPr>
          </a:p>
        </p:txBody>
      </p:sp>
      <p:sp>
        <p:nvSpPr>
          <p:cNvPr id="82" name="Google Shape;82;p17"/>
          <p:cNvSpPr txBox="1"/>
          <p:nvPr/>
        </p:nvSpPr>
        <p:spPr>
          <a:xfrm>
            <a:off x="1212425" y="1786800"/>
            <a:ext cx="25935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Total Review </a:t>
            </a:r>
            <a:endParaRPr sz="1800">
              <a:solidFill>
                <a:schemeClr val="dk1"/>
              </a:solidFill>
              <a:latin typeface="Comfortaa"/>
              <a:ea typeface="Comfortaa"/>
              <a:cs typeface="Comfortaa"/>
              <a:sym typeface="Comfortaa"/>
            </a:endParaRPr>
          </a:p>
          <a:p>
            <a:pPr indent="0" lvl="0" marL="457200" rtl="0" algn="l">
              <a:spcBef>
                <a:spcPts val="0"/>
              </a:spcBef>
              <a:spcAft>
                <a:spcPts val="0"/>
              </a:spcAft>
              <a:buNone/>
            </a:pPr>
            <a:r>
              <a:t/>
            </a:r>
            <a:endParaRPr sz="1800">
              <a:solidFill>
                <a:schemeClr val="dk1"/>
              </a:solidFill>
              <a:latin typeface="Comfortaa"/>
              <a:ea typeface="Comfortaa"/>
              <a:cs typeface="Comfortaa"/>
              <a:sym typeface="Comfortaa"/>
            </a:endParaRPr>
          </a:p>
          <a:p>
            <a:pPr indent="-342900" lvl="0" marL="457200" rtl="0" algn="l">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Positive Ratio</a:t>
            </a:r>
            <a:endParaRPr sz="1800">
              <a:solidFill>
                <a:schemeClr val="dk1"/>
              </a:solidFill>
              <a:latin typeface="Comfortaa"/>
              <a:ea typeface="Comfortaa"/>
              <a:cs typeface="Comfortaa"/>
              <a:sym typeface="Comfortaa"/>
            </a:endParaRPr>
          </a:p>
          <a:p>
            <a:pPr indent="0" lvl="0" marL="457200" rtl="0" algn="l">
              <a:spcBef>
                <a:spcPts val="0"/>
              </a:spcBef>
              <a:spcAft>
                <a:spcPts val="0"/>
              </a:spcAft>
              <a:buNone/>
            </a:pPr>
            <a:r>
              <a:t/>
            </a:r>
            <a:endParaRPr sz="1800">
              <a:solidFill>
                <a:schemeClr val="dk1"/>
              </a:solidFill>
              <a:latin typeface="Comfortaa"/>
              <a:ea typeface="Comfortaa"/>
              <a:cs typeface="Comfortaa"/>
              <a:sym typeface="Comfortaa"/>
            </a:endParaRPr>
          </a:p>
          <a:p>
            <a:pPr indent="-342900" lvl="0" marL="457200" rtl="0" algn="l">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Release Year</a:t>
            </a:r>
            <a:endParaRPr sz="1800">
              <a:solidFill>
                <a:schemeClr val="dk1"/>
              </a:solidFill>
              <a:latin typeface="Comfortaa"/>
              <a:ea typeface="Comfortaa"/>
              <a:cs typeface="Comfortaa"/>
              <a:sym typeface="Comfortaa"/>
            </a:endParaRPr>
          </a:p>
        </p:txBody>
      </p:sp>
      <p:pic>
        <p:nvPicPr>
          <p:cNvPr id="83" name="Google Shape;83;p17" title="Screenshot 2026-05-13 at 11.42.18 PM.png"/>
          <p:cNvPicPr preferRelativeResize="0"/>
          <p:nvPr/>
        </p:nvPicPr>
        <p:blipFill>
          <a:blip r:embed="rId4">
            <a:alphaModFix/>
          </a:blip>
          <a:stretch>
            <a:fillRect/>
          </a:stretch>
        </p:blipFill>
        <p:spPr>
          <a:xfrm>
            <a:off x="4042550" y="900700"/>
            <a:ext cx="3996790" cy="3989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Graph 1</a:t>
            </a:r>
            <a:endParaRPr>
              <a:latin typeface="Comfortaa"/>
              <a:ea typeface="Comfortaa"/>
              <a:cs typeface="Comfortaa"/>
              <a:sym typeface="Comfortaa"/>
            </a:endParaRPr>
          </a:p>
        </p:txBody>
      </p:sp>
      <p:sp>
        <p:nvSpPr>
          <p:cNvPr id="89" name="Google Shape;89;p18"/>
          <p:cNvSpPr txBox="1"/>
          <p:nvPr/>
        </p:nvSpPr>
        <p:spPr>
          <a:xfrm>
            <a:off x="311700" y="1597624"/>
            <a:ext cx="2913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mfortaa"/>
                <a:ea typeface="Comfortaa"/>
                <a:cs typeface="Comfortaa"/>
                <a:sym typeface="Comfortaa"/>
              </a:rPr>
              <a:t>Games priced between $5.01 and $30 have the highest average positive review scores, while free games had the lowest average score.</a:t>
            </a:r>
            <a:endParaRPr sz="1800">
              <a:solidFill>
                <a:schemeClr val="dk1"/>
              </a:solidFill>
              <a:latin typeface="Comfortaa"/>
              <a:ea typeface="Comfortaa"/>
              <a:cs typeface="Comfortaa"/>
              <a:sym typeface="Comfortaa"/>
            </a:endParaRPr>
          </a:p>
        </p:txBody>
      </p:sp>
      <p:pic>
        <p:nvPicPr>
          <p:cNvPr id="90" name="Google Shape;90;p18" title="Average Positive Review Score by Price Group.png"/>
          <p:cNvPicPr preferRelativeResize="0"/>
          <p:nvPr/>
        </p:nvPicPr>
        <p:blipFill>
          <a:blip r:embed="rId4">
            <a:alphaModFix/>
          </a:blip>
          <a:stretch>
            <a:fillRect/>
          </a:stretch>
        </p:blipFill>
        <p:spPr>
          <a:xfrm>
            <a:off x="3511925" y="951225"/>
            <a:ext cx="5320376" cy="40188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9"/>
          <p:cNvSpPr txBox="1"/>
          <p:nvPr>
            <p:ph type="title"/>
          </p:nvPr>
        </p:nvSpPr>
        <p:spPr>
          <a:xfrm>
            <a:off x="311700" y="3271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Graph 2</a:t>
            </a:r>
            <a:endParaRPr>
              <a:latin typeface="Comfortaa"/>
              <a:ea typeface="Comfortaa"/>
              <a:cs typeface="Comfortaa"/>
              <a:sym typeface="Comfortaa"/>
            </a:endParaRPr>
          </a:p>
        </p:txBody>
      </p:sp>
      <p:pic>
        <p:nvPicPr>
          <p:cNvPr id="96" name="Google Shape;96;p19" title="Average Positive Review Score.png"/>
          <p:cNvPicPr preferRelativeResize="0"/>
          <p:nvPr/>
        </p:nvPicPr>
        <p:blipFill>
          <a:blip r:embed="rId4">
            <a:alphaModFix/>
          </a:blip>
          <a:stretch>
            <a:fillRect/>
          </a:stretch>
        </p:blipFill>
        <p:spPr>
          <a:xfrm>
            <a:off x="244325" y="975625"/>
            <a:ext cx="6117074" cy="3666049"/>
          </a:xfrm>
          <a:prstGeom prst="rect">
            <a:avLst/>
          </a:prstGeom>
          <a:noFill/>
          <a:ln>
            <a:noFill/>
          </a:ln>
        </p:spPr>
      </p:pic>
      <p:sp>
        <p:nvSpPr>
          <p:cNvPr id="97" name="Google Shape;97;p19"/>
          <p:cNvSpPr txBox="1"/>
          <p:nvPr/>
        </p:nvSpPr>
        <p:spPr>
          <a:xfrm>
            <a:off x="6575925" y="1466050"/>
            <a:ext cx="2441700" cy="241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 sz="1600">
                <a:solidFill>
                  <a:schemeClr val="dk1"/>
                </a:solidFill>
                <a:latin typeface="Comfortaa"/>
                <a:ea typeface="Comfortaa"/>
                <a:cs typeface="Comfortaa"/>
                <a:sym typeface="Comfortaa"/>
              </a:rPr>
              <a:t>Average positive review scores declined from the early 2000s into the mid-2010s, then started to rise again after around 2016–2017.</a:t>
            </a:r>
            <a:endParaRPr sz="1600">
              <a:solidFill>
                <a:schemeClr val="dk1"/>
              </a:solidFill>
              <a:latin typeface="Comfortaa"/>
              <a:ea typeface="Comfortaa"/>
              <a:cs typeface="Comfortaa"/>
              <a:sym typeface="Comforta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3439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Graph 3</a:t>
            </a:r>
            <a:endParaRPr>
              <a:latin typeface="Comfortaa"/>
              <a:ea typeface="Comfortaa"/>
              <a:cs typeface="Comfortaa"/>
              <a:sym typeface="Comfortaa"/>
            </a:endParaRPr>
          </a:p>
        </p:txBody>
      </p:sp>
      <p:sp>
        <p:nvSpPr>
          <p:cNvPr id="103" name="Google Shape;103;p20"/>
          <p:cNvSpPr txBox="1"/>
          <p:nvPr/>
        </p:nvSpPr>
        <p:spPr>
          <a:xfrm>
            <a:off x="227325" y="1473475"/>
            <a:ext cx="30984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omfortaa"/>
                <a:ea typeface="Comfortaa"/>
                <a:cs typeface="Comfortaa"/>
                <a:sym typeface="Comfortaa"/>
              </a:rPr>
              <a:t>Genres like Indie, Adventure, Simulation, Casual, Strategy, and Action have more consistent positive review scores from around 2008 onward, while some genres have missing or less consistent data in earlier years.</a:t>
            </a:r>
            <a:endParaRPr sz="1800">
              <a:solidFill>
                <a:schemeClr val="dk1"/>
              </a:solidFill>
              <a:latin typeface="Comfortaa"/>
              <a:ea typeface="Comfortaa"/>
              <a:cs typeface="Comfortaa"/>
              <a:sym typeface="Comfortaa"/>
            </a:endParaRPr>
          </a:p>
        </p:txBody>
      </p:sp>
      <p:pic>
        <p:nvPicPr>
          <p:cNvPr id="104" name="Google Shape;104;p20" title="Top_10_Genres_Heat_Map.png"/>
          <p:cNvPicPr preferRelativeResize="0"/>
          <p:nvPr/>
        </p:nvPicPr>
        <p:blipFill>
          <a:blip r:embed="rId4">
            <a:alphaModFix/>
          </a:blip>
          <a:stretch>
            <a:fillRect/>
          </a:stretch>
        </p:blipFill>
        <p:spPr>
          <a:xfrm>
            <a:off x="3469000" y="1069075"/>
            <a:ext cx="5522601" cy="3679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pic>
        <p:nvPicPr>
          <p:cNvPr id="109" name="Google Shape;109;p21" title="Screenshot 2026-05-13 at 10.50.40 PM.png"/>
          <p:cNvPicPr preferRelativeResize="0"/>
          <p:nvPr/>
        </p:nvPicPr>
        <p:blipFill>
          <a:blip r:embed="rId4">
            <a:alphaModFix/>
          </a:blip>
          <a:stretch>
            <a:fillRect/>
          </a:stretch>
        </p:blipFill>
        <p:spPr>
          <a:xfrm>
            <a:off x="496775" y="152400"/>
            <a:ext cx="3266926" cy="4838698"/>
          </a:xfrm>
          <a:prstGeom prst="rect">
            <a:avLst/>
          </a:prstGeom>
          <a:noFill/>
          <a:ln>
            <a:noFill/>
          </a:ln>
        </p:spPr>
      </p:pic>
      <p:pic>
        <p:nvPicPr>
          <p:cNvPr id="110" name="Google Shape;110;p21" title="Screenshot 2026-05-13 at 10.52.07 PM.png"/>
          <p:cNvPicPr preferRelativeResize="0"/>
          <p:nvPr/>
        </p:nvPicPr>
        <p:blipFill>
          <a:blip r:embed="rId5">
            <a:alphaModFix/>
          </a:blip>
          <a:stretch>
            <a:fillRect/>
          </a:stretch>
        </p:blipFill>
        <p:spPr>
          <a:xfrm>
            <a:off x="4090100" y="836897"/>
            <a:ext cx="3119750" cy="4154203"/>
          </a:xfrm>
          <a:prstGeom prst="rect">
            <a:avLst/>
          </a:prstGeom>
          <a:noFill/>
          <a:ln>
            <a:noFill/>
          </a:ln>
        </p:spPr>
      </p:pic>
      <p:sp>
        <p:nvSpPr>
          <p:cNvPr id="111" name="Google Shape;111;p21"/>
          <p:cNvSpPr txBox="1"/>
          <p:nvPr/>
        </p:nvSpPr>
        <p:spPr>
          <a:xfrm>
            <a:off x="3448125" y="152400"/>
            <a:ext cx="4403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dk1"/>
                </a:solidFill>
                <a:latin typeface="Comfortaa"/>
                <a:ea typeface="Comfortaa"/>
                <a:cs typeface="Comfortaa"/>
                <a:sym typeface="Comfortaa"/>
              </a:rPr>
              <a:t>Regression Model</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2"/>
          <p:cNvSpPr txBox="1"/>
          <p:nvPr/>
        </p:nvSpPr>
        <p:spPr>
          <a:xfrm>
            <a:off x="353625" y="1465050"/>
            <a:ext cx="8689200" cy="36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latin typeface="Comfortaa"/>
                <a:ea typeface="Comfortaa"/>
                <a:cs typeface="Comfortaa"/>
                <a:sym typeface="Comfortaa"/>
              </a:rPr>
              <a:t>Model 1</a:t>
            </a:r>
            <a:r>
              <a:rPr lang="en" sz="1100">
                <a:solidFill>
                  <a:schemeClr val="dk1"/>
                </a:solidFill>
                <a:latin typeface="Comfortaa"/>
                <a:ea typeface="Comfortaa"/>
                <a:cs typeface="Comfortaa"/>
                <a:sym typeface="Comfortaa"/>
              </a:rPr>
              <a:t> show a coefficient is negative and statistically significant, which means newer games were not more likely to have higher positive review ratios of -0.0026. Meaning that Showing that each later release year, the positive review ratio is lower by about 0.26 percentage points, holding price and total reviews constant.</a:t>
            </a:r>
            <a:endParaRPr sz="1100">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None/>
            </a:pPr>
            <a:r>
              <a:rPr lang="en" sz="1100">
                <a:solidFill>
                  <a:schemeClr val="dk1"/>
                </a:solidFill>
                <a:latin typeface="Comfortaa"/>
                <a:ea typeface="Comfortaa"/>
                <a:cs typeface="Comfortaa"/>
                <a:sym typeface="Comfortaa"/>
              </a:rPr>
              <a:t>In </a:t>
            </a:r>
            <a:r>
              <a:rPr b="1" lang="en" sz="1100">
                <a:solidFill>
                  <a:schemeClr val="dk1"/>
                </a:solidFill>
                <a:latin typeface="Comfortaa"/>
                <a:ea typeface="Comfortaa"/>
                <a:cs typeface="Comfortaa"/>
                <a:sym typeface="Comfortaa"/>
              </a:rPr>
              <a:t>Model 2 </a:t>
            </a:r>
            <a:r>
              <a:rPr lang="en" sz="1100">
                <a:solidFill>
                  <a:schemeClr val="dk1"/>
                </a:solidFill>
                <a:latin typeface="Comfortaa"/>
                <a:ea typeface="Comfortaa"/>
                <a:cs typeface="Comfortaa"/>
                <a:sym typeface="Comfortaa"/>
              </a:rPr>
              <a:t>between 2010–2014 release period is negative and statistically significant at -0.0640 meaning that game in 2010–2014 has a 6.40 percentage points less likely to get positive review. However in 2020–2026 release period has a positive and is statistically significant at 0.0300, showing us that in those year game would have 3 percentage points more likely to get positive review. </a:t>
            </a:r>
            <a:endParaRPr sz="1100">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None/>
            </a:pPr>
            <a:r>
              <a:rPr lang="en" sz="1100">
                <a:solidFill>
                  <a:schemeClr val="dk1"/>
                </a:solidFill>
                <a:latin typeface="Comfortaa"/>
                <a:ea typeface="Comfortaa"/>
                <a:cs typeface="Comfortaa"/>
                <a:sym typeface="Comfortaa"/>
              </a:rPr>
              <a:t>Finally in </a:t>
            </a:r>
            <a:r>
              <a:rPr b="1" lang="en" sz="1100">
                <a:solidFill>
                  <a:schemeClr val="dk1"/>
                </a:solidFill>
                <a:latin typeface="Comfortaa"/>
                <a:ea typeface="Comfortaa"/>
                <a:cs typeface="Comfortaa"/>
                <a:sym typeface="Comfortaa"/>
              </a:rPr>
              <a:t>Model 3</a:t>
            </a:r>
            <a:r>
              <a:rPr lang="en" sz="1100">
                <a:solidFill>
                  <a:schemeClr val="dk1"/>
                </a:solidFill>
                <a:latin typeface="Comfortaa"/>
                <a:ea typeface="Comfortaa"/>
                <a:cs typeface="Comfortaa"/>
                <a:sym typeface="Comfortaa"/>
              </a:rPr>
              <a:t> with several genre, there are couple of them that are statistically significant like the Indie games where they get about 4.87 percentage points higher positive review holding the other variables constant. But that not the case for other genres like Action games are about 2.41 percentage points lower, Free To Play games are about 3.67 percentage points lower, RPG games are about 1.53 percentage points lower, Massively Multiplayer games are about 8.59 percentage points lower, Early Access games are about 6.77 percentage points lower, and Sports games are about 5.98 percentage points lower.</a:t>
            </a:r>
            <a:endParaRPr sz="1100">
              <a:solidFill>
                <a:schemeClr val="dk1"/>
              </a:solidFill>
              <a:latin typeface="Comfortaa"/>
              <a:ea typeface="Comfortaa"/>
              <a:cs typeface="Comfortaa"/>
              <a:sym typeface="Comfortaa"/>
            </a:endParaRPr>
          </a:p>
          <a:p>
            <a:pPr indent="0" lvl="0" marL="0" rtl="0" algn="l">
              <a:lnSpc>
                <a:spcPct val="115000"/>
              </a:lnSpc>
              <a:spcBef>
                <a:spcPts val="1200"/>
              </a:spcBef>
              <a:spcAft>
                <a:spcPts val="0"/>
              </a:spcAft>
              <a:buNone/>
            </a:pPr>
            <a:r>
              <a:t/>
            </a:r>
            <a:endParaRPr sz="1100">
              <a:solidFill>
                <a:schemeClr val="dk1"/>
              </a:solidFill>
              <a:latin typeface="Comfortaa"/>
              <a:ea typeface="Comfortaa"/>
              <a:cs typeface="Comfortaa"/>
              <a:sym typeface="Comfortaa"/>
            </a:endParaRPr>
          </a:p>
          <a:p>
            <a:pPr indent="0" lvl="0" marL="0" rtl="0" algn="l">
              <a:lnSpc>
                <a:spcPct val="115000"/>
              </a:lnSpc>
              <a:spcBef>
                <a:spcPts val="1200"/>
              </a:spcBef>
              <a:spcAft>
                <a:spcPts val="1200"/>
              </a:spcAft>
              <a:buClr>
                <a:schemeClr val="dk1"/>
              </a:buClr>
              <a:buSzPts val="1100"/>
              <a:buFont typeface="Arial"/>
              <a:buNone/>
            </a:pPr>
            <a:r>
              <a:t/>
            </a:r>
            <a:endParaRPr sz="1100">
              <a:solidFill>
                <a:schemeClr val="dk1"/>
              </a:solidFill>
            </a:endParaRPr>
          </a:p>
        </p:txBody>
      </p:sp>
      <p:sp>
        <p:nvSpPr>
          <p:cNvPr id="117" name="Google Shape;117;p22"/>
          <p:cNvSpPr txBox="1"/>
          <p:nvPr/>
        </p:nvSpPr>
        <p:spPr>
          <a:xfrm>
            <a:off x="2374425" y="244175"/>
            <a:ext cx="48498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Comfortaa"/>
                <a:ea typeface="Comfortaa"/>
                <a:cs typeface="Comfortaa"/>
                <a:sym typeface="Comfortaa"/>
              </a:rPr>
              <a:t>Regression Results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fortaa"/>
                <a:ea typeface="Comfortaa"/>
                <a:cs typeface="Comfortaa"/>
                <a:sym typeface="Comfortaa"/>
              </a:rPr>
              <a:t>Conclusion</a:t>
            </a:r>
            <a:endParaRPr>
              <a:latin typeface="Comfortaa"/>
              <a:ea typeface="Comfortaa"/>
              <a:cs typeface="Comfortaa"/>
              <a:sym typeface="Comfortaa"/>
            </a:endParaRPr>
          </a:p>
        </p:txBody>
      </p:sp>
      <p:sp>
        <p:nvSpPr>
          <p:cNvPr id="123" name="Google Shape;123;p23"/>
          <p:cNvSpPr txBox="1"/>
          <p:nvPr>
            <p:ph idx="1" type="body"/>
          </p:nvPr>
        </p:nvSpPr>
        <p:spPr>
          <a:xfrm>
            <a:off x="3174450" y="1297700"/>
            <a:ext cx="47064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200">
                <a:solidFill>
                  <a:schemeClr val="dk1"/>
                </a:solidFill>
                <a:latin typeface="Comfortaa"/>
                <a:ea typeface="Comfortaa"/>
                <a:cs typeface="Comfortaa"/>
                <a:sym typeface="Comfortaa"/>
              </a:rPr>
              <a:t>Main conclusion:</a:t>
            </a:r>
            <a:br>
              <a:rPr b="1" lang="en" sz="1200">
                <a:solidFill>
                  <a:schemeClr val="dk1"/>
                </a:solidFill>
                <a:latin typeface="Comfortaa"/>
                <a:ea typeface="Comfortaa"/>
                <a:cs typeface="Comfortaa"/>
                <a:sym typeface="Comfortaa"/>
              </a:rPr>
            </a:br>
            <a:r>
              <a:rPr lang="en" sz="1200">
                <a:solidFill>
                  <a:schemeClr val="dk1"/>
                </a:solidFill>
                <a:latin typeface="Comfortaa"/>
                <a:ea typeface="Comfortaa"/>
                <a:cs typeface="Comfortaa"/>
                <a:sym typeface="Comfortaa"/>
              </a:rPr>
              <a:t>Newer Steam games were </a:t>
            </a:r>
            <a:r>
              <a:rPr b="1" lang="en" sz="1200">
                <a:solidFill>
                  <a:schemeClr val="dk1"/>
                </a:solidFill>
                <a:latin typeface="Comfortaa"/>
                <a:ea typeface="Comfortaa"/>
                <a:cs typeface="Comfortaa"/>
                <a:sym typeface="Comfortaa"/>
              </a:rPr>
              <a:t>not more likely</a:t>
            </a:r>
            <a:r>
              <a:rPr lang="en" sz="1200">
                <a:solidFill>
                  <a:schemeClr val="dk1"/>
                </a:solidFill>
                <a:latin typeface="Comfortaa"/>
                <a:ea typeface="Comfortaa"/>
                <a:cs typeface="Comfortaa"/>
                <a:sym typeface="Comfortaa"/>
              </a:rPr>
              <a:t> to receive higher positive review scores in my data.</a:t>
            </a:r>
            <a:endParaRPr sz="1200">
              <a:solidFill>
                <a:schemeClr val="dk1"/>
              </a:solidFill>
              <a:latin typeface="Comfortaa"/>
              <a:ea typeface="Comfortaa"/>
              <a:cs typeface="Comfortaa"/>
              <a:sym typeface="Comfortaa"/>
            </a:endParaRPr>
          </a:p>
          <a:p>
            <a:pPr indent="0" lvl="0" marL="0" rtl="0" algn="l">
              <a:spcBef>
                <a:spcPts val="1200"/>
              </a:spcBef>
              <a:spcAft>
                <a:spcPts val="0"/>
              </a:spcAft>
              <a:buClr>
                <a:schemeClr val="dk1"/>
              </a:buClr>
              <a:buSzPts val="1100"/>
              <a:buFont typeface="Arial"/>
              <a:buNone/>
            </a:pPr>
            <a:r>
              <a:rPr b="1" lang="en" sz="1200">
                <a:solidFill>
                  <a:schemeClr val="dk1"/>
                </a:solidFill>
                <a:latin typeface="Comfortaa"/>
                <a:ea typeface="Comfortaa"/>
                <a:cs typeface="Comfortaa"/>
                <a:sym typeface="Comfortaa"/>
              </a:rPr>
              <a:t>Key findings:</a:t>
            </a:r>
            <a:endParaRPr b="1" sz="1200">
              <a:solidFill>
                <a:schemeClr val="dk1"/>
              </a:solidFill>
              <a:latin typeface="Comfortaa"/>
              <a:ea typeface="Comfortaa"/>
              <a:cs typeface="Comfortaa"/>
              <a:sym typeface="Comfortaa"/>
            </a:endParaRPr>
          </a:p>
          <a:p>
            <a:pPr indent="-304800" lvl="0" marL="457200" rtl="0" algn="l">
              <a:spcBef>
                <a:spcPts val="1200"/>
              </a:spcBef>
              <a:spcAft>
                <a:spcPts val="0"/>
              </a:spcAft>
              <a:buClr>
                <a:schemeClr val="dk1"/>
              </a:buClr>
              <a:buSzPts val="1200"/>
              <a:buFont typeface="Comfortaa"/>
              <a:buChar char="●"/>
            </a:pPr>
            <a:r>
              <a:rPr lang="en" sz="1200">
                <a:solidFill>
                  <a:schemeClr val="dk1"/>
                </a:solidFill>
                <a:latin typeface="Comfortaa"/>
                <a:ea typeface="Comfortaa"/>
                <a:cs typeface="Comfortaa"/>
                <a:sym typeface="Comfortaa"/>
              </a:rPr>
              <a:t>Older games, especially before 2010, had the highest average review scores.</a:t>
            </a:r>
            <a:endParaRPr sz="1200">
              <a:solidFill>
                <a:schemeClr val="dk1"/>
              </a:solidFill>
              <a:latin typeface="Comfortaa"/>
              <a:ea typeface="Comfortaa"/>
              <a:cs typeface="Comfortaa"/>
              <a:sym typeface="Comfortaa"/>
            </a:endParaRPr>
          </a:p>
          <a:p>
            <a:pPr indent="-304800" lvl="0" marL="457200" rtl="0" algn="l">
              <a:spcBef>
                <a:spcPts val="0"/>
              </a:spcBef>
              <a:spcAft>
                <a:spcPts val="0"/>
              </a:spcAft>
              <a:buClr>
                <a:schemeClr val="dk1"/>
              </a:buClr>
              <a:buSzPts val="1200"/>
              <a:buFont typeface="Comfortaa"/>
              <a:buChar char="●"/>
            </a:pPr>
            <a:r>
              <a:rPr lang="en" sz="1200">
                <a:solidFill>
                  <a:schemeClr val="dk1"/>
                </a:solidFill>
                <a:latin typeface="Comfortaa"/>
                <a:ea typeface="Comfortaa"/>
                <a:cs typeface="Comfortaa"/>
                <a:sym typeface="Comfortaa"/>
              </a:rPr>
              <a:t>Review scores declined around the mid-2010s.</a:t>
            </a:r>
            <a:endParaRPr sz="1200">
              <a:solidFill>
                <a:schemeClr val="dk1"/>
              </a:solidFill>
              <a:latin typeface="Comfortaa"/>
              <a:ea typeface="Comfortaa"/>
              <a:cs typeface="Comfortaa"/>
              <a:sym typeface="Comfortaa"/>
            </a:endParaRPr>
          </a:p>
          <a:p>
            <a:pPr indent="-304800" lvl="0" marL="457200" rtl="0" algn="l">
              <a:spcBef>
                <a:spcPts val="0"/>
              </a:spcBef>
              <a:spcAft>
                <a:spcPts val="0"/>
              </a:spcAft>
              <a:buClr>
                <a:schemeClr val="dk1"/>
              </a:buClr>
              <a:buSzPts val="1200"/>
              <a:buFont typeface="Comfortaa"/>
              <a:buChar char="●"/>
            </a:pPr>
            <a:r>
              <a:rPr lang="en" sz="1200">
                <a:solidFill>
                  <a:schemeClr val="dk1"/>
                </a:solidFill>
                <a:latin typeface="Comfortaa"/>
                <a:ea typeface="Comfortaa"/>
                <a:cs typeface="Comfortaa"/>
                <a:sym typeface="Comfortaa"/>
              </a:rPr>
              <a:t>Some genres had stronger average review scores than others.</a:t>
            </a:r>
            <a:endParaRPr sz="1200">
              <a:solidFill>
                <a:schemeClr val="dk1"/>
              </a:solidFill>
              <a:latin typeface="Comfortaa"/>
              <a:ea typeface="Comfortaa"/>
              <a:cs typeface="Comfortaa"/>
              <a:sym typeface="Comfortaa"/>
            </a:endParaRPr>
          </a:p>
          <a:p>
            <a:pPr indent="-304800" lvl="0" marL="457200" rtl="0" algn="l">
              <a:spcBef>
                <a:spcPts val="0"/>
              </a:spcBef>
              <a:spcAft>
                <a:spcPts val="0"/>
              </a:spcAft>
              <a:buClr>
                <a:schemeClr val="dk1"/>
              </a:buClr>
              <a:buSzPts val="1200"/>
              <a:buFont typeface="Comfortaa"/>
              <a:buChar char="●"/>
            </a:pPr>
            <a:r>
              <a:rPr lang="en" sz="1200">
                <a:solidFill>
                  <a:schemeClr val="dk1"/>
                </a:solidFill>
                <a:latin typeface="Comfortaa"/>
                <a:ea typeface="Comfortaa"/>
                <a:cs typeface="Comfortaa"/>
                <a:sym typeface="Comfortaa"/>
              </a:rPr>
              <a:t>Indie games were positively related to review scores in the regression.</a:t>
            </a:r>
            <a:endParaRPr sz="1200">
              <a:solidFill>
                <a:schemeClr val="dk1"/>
              </a:solidFill>
              <a:latin typeface="Comfortaa"/>
              <a:ea typeface="Comfortaa"/>
              <a:cs typeface="Comfortaa"/>
              <a:sym typeface="Comfortaa"/>
            </a:endParaRPr>
          </a:p>
          <a:p>
            <a:pPr indent="-304800" lvl="0" marL="457200" rtl="0" algn="l">
              <a:spcBef>
                <a:spcPts val="0"/>
              </a:spcBef>
              <a:spcAft>
                <a:spcPts val="0"/>
              </a:spcAft>
              <a:buClr>
                <a:schemeClr val="dk1"/>
              </a:buClr>
              <a:buSzPts val="1200"/>
              <a:buFont typeface="Comfortaa"/>
              <a:buChar char="●"/>
            </a:pPr>
            <a:r>
              <a:rPr lang="en" sz="1200">
                <a:solidFill>
                  <a:schemeClr val="dk1"/>
                </a:solidFill>
                <a:latin typeface="Comfortaa"/>
                <a:ea typeface="Comfortaa"/>
                <a:cs typeface="Comfortaa"/>
                <a:sym typeface="Comfortaa"/>
              </a:rPr>
              <a:t>The results show correlation, not definite causation.</a:t>
            </a:r>
            <a:endParaRPr sz="1200">
              <a:latin typeface="Comfortaa"/>
              <a:ea typeface="Comfortaa"/>
              <a:cs typeface="Comfortaa"/>
              <a:sym typeface="Comfortaa"/>
            </a:endParaRPr>
          </a:p>
        </p:txBody>
      </p:sp>
      <p:pic>
        <p:nvPicPr>
          <p:cNvPr id="124" name="Google Shape;124;p23" title="fimtzer9x8qd1.jpeg"/>
          <p:cNvPicPr preferRelativeResize="0"/>
          <p:nvPr/>
        </p:nvPicPr>
        <p:blipFill>
          <a:blip r:embed="rId4">
            <a:alphaModFix/>
          </a:blip>
          <a:stretch>
            <a:fillRect/>
          </a:stretch>
        </p:blipFill>
        <p:spPr>
          <a:xfrm>
            <a:off x="311699" y="585700"/>
            <a:ext cx="2666132" cy="23817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